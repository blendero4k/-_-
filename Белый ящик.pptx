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6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78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1:32:19.895"/>
    </inkml:context>
    <inkml:brush xml:id="br0">
      <inkml:brushProperty name="width" value="0.35" units="cm"/>
      <inkml:brushProperty name="height" value="0.35" units="cm"/>
      <inkml:brushProperty name="color" value="#E7E6E6"/>
    </inkml:brush>
  </inkml:definitions>
  <inkml:trace contextRef="#ctx0" brushRef="#br0">2009 3 24575,'-29'-1'0,"18"0"0,-1 1 0,1 0 0,0 1 0,0 0 0,0 0 0,-19 6 0,-977 279-4784,992-281 4653,-44 12-1507,1 4 0,-84 41-1,95-40 3505,35-18-1358,0 1 0,1 1 1,0 0-1,0 0 0,-15 13 0,26-19-469,-1 1 0,1-1 0,-1 0 0,1 1-1,0-1 1,-1 0 0,1 1 0,-1-1 0,1 0-1,0 1 1,-1-1 0,1 1 0,0-1 0,0 1 0,-1-1-1,1 1 1,0-1 0,0 1 0,0-1 0,0 1 0,0-1-1,0 1 1,0-1 0,-1 1 0,1-1 0,1 1 0,-1-1-1,0 1 1,0 0 0,0-1 0,0 1 0,0-1-1,0 1 1,1-1 0,-1 1 0,0-1 0,0 0 0,1 1-1,-1-1 1,0 1 0,1-1 0,-1 1 0,0-1 0,1 0-1,-1 1 1,1-1 0,-1 0 0,0 0 0,1 1 0,-1-1-1,1 0 1,-1 0 0,1 1 0,-1-1 0,1 0 0,-1 0-1,1 0 1,-1 0 0,1 0 0,0 0 0,-1 0-1,1 0 1,38 5 1393,-38-4-1378,277-1 938,-121-2-1001,-101-1 9,0-2 0,0-3 0,-1-2 0,70-22 0,-71 14 0,-36 11 0,0 1 0,1 1 0,0 0 0,35-3 0,-20 5 0,65-17 0,-56 10 0,-10-2 0,-26 3 0,-21 0 0,-20 3 0,1 2 0,-1 1 0,0 2 0,-57 5 0,3-1 0,-830-2 0,1880-1-905,-752-18 905,-43 0 0,-131 15-10,50-12 1,-53 9-2,66-6 1,168 13 920,-893-1-875,600 2-35,-1 0 0,-45 12 0,43-8 0,0-1 0,-32 2 0,11-4 0,1 3 0,-67 17 0,113-22 0,1-1 0,0 0 0,-1 1 0,1 0 0,0 0 0,-1 0 0,1 0 0,0 0 0,0 0 0,0 0 0,0 0 0,0 1 0,-3 2 0,5-3 0,-1 0 0,1-1 0,0 1 0,0-1 0,-1 1 0,1 0 0,0-1 0,0 1 0,0 0 0,0-1 0,0 1 0,0 0 0,0-1 0,0 1 0,0 0 0,0-1 0,0 1 0,0-1 0,1 1 0,-1 0 0,0-1 0,0 1 0,1-1 0,-1 1 0,0 0 0,1-1 0,-1 1 0,1-1 0,-1 1 0,1 0 0,4 2 0,-1 1 0,0-1 0,1 0 0,0 0 0,-1-1 0,1 1 0,0-1 0,0 0 0,1-1 0,6 3 0,8 0 0,40 9 0,1-2 0,93 5 0,-114-14-286,62 13-1,24 1-195,406-12 194,-275-7 385,-233 4 111,-1 0 0,0 2-1,0 1 1,0 1 0,25 8-1,-48-13-207,0 0 0,0 0 0,0 0 0,0 0 0,0 0 0,0 0 0,0 1 0,1-1 0,-1 0 0,0 0 0,0 0 0,0 0 0,0 0 0,0 0 0,0 0 0,0 1 0,0-1 0,0 0 0,0 0 0,0 0 0,1 0 0,-1 0 0,0 1 0,0-1 0,0 0 0,0 0 0,0 0 0,0 0 0,0 0 0,0 1 0,0-1 0,0 0 0,0 0 0,-1 0 0,1 0 0,0 0 0,0 0 0,0 1 0,0-1 0,0 0 0,0 0 0,0 0 0,0 0 0,0 0 0,0 0 0,0 0 0,-1 1 0,1-1 0,0 0 0,0 0 0,0 0 0,0 0 0,0 0 0,0 0 0,-1 0 0,1 0 0,0 0 0,0 0 0,0 0 0,0 0 0,0 0 0,-1 0 0,1 0 0,-18 10 0,-24 4 0,21-9 0,-35 9 0,0-3 0,0-2 0,-71 2 0,77-8 0,-67 11 0,-42 3 0,-73 6-769,119-9 817,13 1-48,53-7 0,-67 3 0,2-12-26,62-1-224,1 2-1,0 2 0,-65 12 0,65-6 242,-75 3 0,51-6 587,42 0-523,-43 11-1,34-7-49,8 4 471,25-3 44,22-1-440,7-5-80,0 0 0,44 1 0,27 3 0,7 6-349,2-6 0,190-7 0,-126-4-377,488 3-738,-250 0 4701,-994 0-4060,554 2-145,0 1 0,-38 10 0,-56 4-2211,-30-16 2436,98-2 496,-1 2-1,-90 13 1,88-6 278,-111 1 0,35-3-3,102-1 1013,-1 1 0,-51 17 0,53-12-17,1-3 0,-68 8 1,57-11-324,1 3 1,-70 19 0,112-26-702,0 0 0,0 0 0,1 0 0,-1 0 0,0 0 0,1 1 0,-1 0 0,1 0 0,0 0 0,0 0 0,-7 5 0,15-5 0,-1-1 0,1 1 0,0-1 0,0 0 0,0 0 0,0-1 0,0 1 0,0-1 0,0 0 0,8-1 0,-8 1 0,720 2-1050,-338-5 370,264 3 2410,-1204 0-2421,519 2 691,-1 1 0,-39 10 0,37-6 0,-60 4 0,-577-10 0,326-3 0,324 3 86,-1 0 1,0 2-1,1 2 1,0 0-1,0 1 0,0 2 1,-28 12-1,41-12-86,13-3 0,25 2 0,41-4 0,-67-3 0,329-2-2101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01.12.2025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D0BA6F7-D230-4A2E-8042-C3000DA862B0}"/>
              </a:ext>
            </a:extLst>
          </p:cNvPr>
          <p:cNvSpPr/>
          <p:nvPr userDrawn="1"/>
        </p:nvSpPr>
        <p:spPr>
          <a:xfrm>
            <a:off x="8727440" y="-834072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4F39FE66-F432-4667-B803-049B377A6CAC}"/>
              </a:ext>
            </a:extLst>
          </p:cNvPr>
          <p:cNvSpPr/>
          <p:nvPr userDrawn="1"/>
        </p:nvSpPr>
        <p:spPr>
          <a:xfrm>
            <a:off x="-2191129" y="3602038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1A2F493-6E05-45FF-ADC3-B4C322D4859A}"/>
              </a:ext>
            </a:extLst>
          </p:cNvPr>
          <p:cNvSpPr/>
          <p:nvPr userDrawn="1"/>
        </p:nvSpPr>
        <p:spPr>
          <a:xfrm rot="5400000">
            <a:off x="11214858" y="5281732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1E9C95A2-6210-4525-9322-D219F14F68B9}"/>
              </a:ext>
            </a:extLst>
          </p:cNvPr>
          <p:cNvSpPr/>
          <p:nvPr userDrawn="1"/>
        </p:nvSpPr>
        <p:spPr>
          <a:xfrm>
            <a:off x="9718040" y="4312603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4C53D18F-7513-4016-AAB6-0827343AD240}"/>
              </a:ext>
            </a:extLst>
          </p:cNvPr>
          <p:cNvSpPr/>
          <p:nvPr userDrawn="1"/>
        </p:nvSpPr>
        <p:spPr>
          <a:xfrm>
            <a:off x="9489440" y="-1499235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278F4E16-F3F9-4F3D-8E25-F2865CD252F5}"/>
              </a:ext>
            </a:extLst>
          </p:cNvPr>
          <p:cNvSpPr/>
          <p:nvPr userDrawn="1"/>
        </p:nvSpPr>
        <p:spPr>
          <a:xfrm>
            <a:off x="861350" y="1923792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056E61D6-18F0-4F5E-A062-50E29A51042C}"/>
              </a:ext>
            </a:extLst>
          </p:cNvPr>
          <p:cNvSpPr/>
          <p:nvPr userDrawn="1"/>
        </p:nvSpPr>
        <p:spPr>
          <a:xfrm>
            <a:off x="861350" y="349906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B3DD6711-D7B6-455B-8D8A-F3380234DFE3}"/>
              </a:ext>
            </a:extLst>
          </p:cNvPr>
          <p:cNvSpPr/>
          <p:nvPr userDrawn="1"/>
        </p:nvSpPr>
        <p:spPr>
          <a:xfrm>
            <a:off x="838200" y="501417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BFE3279B-9BE5-4E77-A7B6-55C97E141234}"/>
              </a:ext>
            </a:extLst>
          </p:cNvPr>
          <p:cNvSpPr/>
          <p:nvPr userDrawn="1"/>
        </p:nvSpPr>
        <p:spPr>
          <a:xfrm>
            <a:off x="9489440" y="-1499235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452563"/>
            <a:ext cx="9144000" cy="2387600"/>
          </a:xfrm>
        </p:spPr>
        <p:txBody>
          <a:bodyPr/>
          <a:lstStyle/>
          <a:p>
            <a:r>
              <a:rPr lang="ru-RU" dirty="0"/>
              <a:t>Тестирование "Белым Ящиком"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EB382-F1D9-C7A0-E724-F72DB8798A04}"/>
              </a:ext>
            </a:extLst>
          </p:cNvPr>
          <p:cNvSpPr txBox="1"/>
          <p:nvPr/>
        </p:nvSpPr>
        <p:spPr>
          <a:xfrm>
            <a:off x="3300983" y="4379976"/>
            <a:ext cx="566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4472C4"/>
                </a:solidFill>
              </a:rPr>
              <a:t>Выполнил Сафаргалеев Владимир КИСП-23</a:t>
            </a:r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метод белого ящика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Тестирование «белого ящика» — это способ проверки ПО, который концентрируется на внутренней системе и коде программы. У QA-специалистов есть доступ к исходному коду и документации проекта, что позволяет им исследовать и проверять внутреннюю работу, инфраструктуру и интеграцию программного обеспечения.</a:t>
            </a:r>
          </a:p>
          <a:p>
            <a:pPr marL="0" indent="0">
              <a:buNone/>
            </a:pPr>
            <a:r>
              <a:rPr lang="ru-RU" dirty="0"/>
              <a:t>Метод «белого ящика» используется во время модульного тестирования, хотя может применяться и на других этапах, таких как интеграционные тесты. Для применения этого метода ваш QA-специалист должен владеть обширными знаниями о технологии, используемой для разработки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313C0-E99C-43E5-B419-927A0C42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0551"/>
            <a:ext cx="10515600" cy="1325563"/>
          </a:xfrm>
        </p:spPr>
        <p:txBody>
          <a:bodyPr/>
          <a:lstStyle/>
          <a:p>
            <a:r>
              <a:rPr lang="ru-RU" dirty="0"/>
              <a:t>Пример тестирование белым ящиком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1F5C6-014E-490D-9215-0B23FDD33261}"/>
              </a:ext>
            </a:extLst>
          </p:cNvPr>
          <p:cNvSpPr txBox="1"/>
          <p:nvPr/>
        </p:nvSpPr>
        <p:spPr>
          <a:xfrm>
            <a:off x="466725" y="1752447"/>
            <a:ext cx="867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Проверять будем на следующем коде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276FEC-914A-E768-1E50-4659322BE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52" y="2381046"/>
            <a:ext cx="3905795" cy="2915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30E0B-689F-134A-AA74-783FC25D6C1B}"/>
              </a:ext>
            </a:extLst>
          </p:cNvPr>
          <p:cNvSpPr txBox="1"/>
          <p:nvPr/>
        </p:nvSpPr>
        <p:spPr>
          <a:xfrm>
            <a:off x="628650" y="5762547"/>
            <a:ext cx="664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Данный код определяет является ли число чётным или не чётным.</a:t>
            </a:r>
          </a:p>
        </p:txBody>
      </p:sp>
    </p:spTree>
    <p:extLst>
      <p:ext uri="{BB962C8B-B14F-4D97-AF65-F5344CB8AC3E}">
        <p14:creationId xmlns:p14="http://schemas.microsoft.com/office/powerpoint/2010/main" val="8126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9B96A-B3C1-41B8-AA81-AF462A75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4472C4"/>
                </a:solidFill>
              </a:rPr>
              <a:t>Что</a:t>
            </a:r>
            <a:r>
              <a:rPr lang="ru-RU" dirty="0"/>
              <a:t> нам </a:t>
            </a:r>
            <a:r>
              <a:rPr lang="ru-RU" dirty="0">
                <a:solidFill>
                  <a:srgbClr val="4472C4"/>
                </a:solidFill>
              </a:rPr>
              <a:t>необходимо</a:t>
            </a:r>
            <a:r>
              <a:rPr lang="ru-RU" dirty="0"/>
              <a:t> проверить?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32D970-360A-4F5E-9793-04C9C754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/>
              <a:t>convert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F005547-E1A9-48B5-AD32-7EA934EB28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54237" y="2515711"/>
            <a:ext cx="7870785" cy="82502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Очень часто происходит ошибка при конвертации одного типа в другой. В первую очередь проверим эту часть. Будем </a:t>
            </a:r>
            <a:r>
              <a:rPr lang="en-US" dirty="0"/>
              <a:t>“</a:t>
            </a:r>
            <a:r>
              <a:rPr lang="ru-RU" dirty="0"/>
              <a:t>запихивать</a:t>
            </a:r>
            <a:r>
              <a:rPr lang="en-US" dirty="0"/>
              <a:t>”</a:t>
            </a:r>
            <a:r>
              <a:rPr lang="ru-RU" dirty="0"/>
              <a:t> в </a:t>
            </a:r>
            <a:r>
              <a:rPr lang="ru-RU" dirty="0" err="1"/>
              <a:t>конвертатор</a:t>
            </a:r>
            <a:r>
              <a:rPr lang="ru-RU" dirty="0"/>
              <a:t> не целочисленные значения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CC782F-3C10-443E-8E0D-030DB852D25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Функцию </a:t>
            </a:r>
            <a:r>
              <a:rPr lang="en-US" dirty="0"/>
              <a:t>function</a:t>
            </a:r>
            <a:endParaRPr lang="ru-RU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1AE199C3-DC8A-4E08-A86F-13AD9231F9B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Проверять функцию будем через </a:t>
            </a:r>
            <a:r>
              <a:rPr lang="en-US" dirty="0"/>
              <a:t>unit-</a:t>
            </a:r>
            <a:r>
              <a:rPr lang="ru-RU" dirty="0"/>
              <a:t>тест. Будем проверять работы функции при различных числах.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BF65E0A7-4F0C-EC84-ECC9-A70E54E4579E}"/>
                  </a:ext>
                </a:extLst>
              </p14:cNvPr>
              <p14:cNvContentPartPr/>
              <p14:nvPr/>
            </p14:nvContentPartPr>
            <p14:xfrm>
              <a:off x="445080" y="5015480"/>
              <a:ext cx="999720" cy="40824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BF65E0A7-4F0C-EC84-ECC9-A70E54E457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080" y="4952840"/>
                <a:ext cx="1125360" cy="5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C80CA-BC38-B7F1-DF41-63D586E8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оператор </a:t>
            </a:r>
            <a:r>
              <a:rPr lang="en-US" dirty="0"/>
              <a:t>convert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211FD719-07E3-6E29-9E37-81387FCE2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проверки операторы мы будем использовать</a:t>
            </a:r>
            <a:r>
              <a:rPr lang="en-US" dirty="0"/>
              <a:t> </a:t>
            </a:r>
            <a:r>
              <a:rPr lang="ru-RU" dirty="0"/>
              <a:t>оператор останова. Ставим оператор на строке с конвертацией и запускаем.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6ADFF7B-F560-DB3A-03EF-5272DF40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4644"/>
            <a:ext cx="9171552" cy="374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1B09-4E1B-B978-9822-C93CC5C4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FF7D3-8FC0-DFB9-9B81-128939A2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оператор </a:t>
            </a:r>
            <a:r>
              <a:rPr lang="en-US" dirty="0"/>
              <a:t>convert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58AF15EB-6BA6-B9A4-91EF-70C5F3827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 мы видим на картине код. Не выполняется, и выдаёт ошибку. Исправим это через оператор </a:t>
            </a:r>
            <a:r>
              <a:rPr lang="en-US" dirty="0"/>
              <a:t>try, catch.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BDBDC1C-02C2-A448-D5F7-3FEE0771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4644"/>
            <a:ext cx="9171552" cy="374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13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8C366-5D40-21F5-FCF2-9EBF0D92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AC6831-EEBF-1A66-C4CF-3D55B2482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Теперь при запуске ошибок нет, так как при неверном формате программа будет просто завершаться с текстом сообщения об ошибке.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70BE91-6CA0-1CDF-F01B-AE3CF491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897" y="2914504"/>
            <a:ext cx="6161642" cy="33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7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FF9A8-5180-10A7-8D71-56A8D4E9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функции </a:t>
            </a:r>
            <a:r>
              <a:rPr lang="en-US" dirty="0"/>
              <a:t>function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0D0524-E35E-2093-5AA4-BB02D9FBE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проверки будем использовать </a:t>
            </a:r>
            <a:r>
              <a:rPr lang="en-US" dirty="0"/>
              <a:t>unit-</a:t>
            </a:r>
            <a:r>
              <a:rPr lang="ru-RU" dirty="0"/>
              <a:t>тесты. Создадим и заполним наш </a:t>
            </a:r>
            <a:r>
              <a:rPr lang="en-US" dirty="0"/>
              <a:t>unit-</a:t>
            </a:r>
            <a:r>
              <a:rPr lang="ru-RU" dirty="0"/>
              <a:t>тест.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DE2AA0-3CB2-C0E6-8EE4-5F60159CB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6" y="2615684"/>
            <a:ext cx="937390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2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3EAC-E4DF-0BF0-7162-C8CE5CCD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47CB2-D1F4-79E9-CADF-E691A3FA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функции </a:t>
            </a:r>
            <a:r>
              <a:rPr lang="en-US" dirty="0"/>
              <a:t>function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8F627-F6B1-2B46-9F84-6A7C23048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64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Код имеет 5 делегатов, каждый проверяет тот или иной аспект функции.</a:t>
            </a:r>
          </a:p>
          <a:p>
            <a:pPr marL="0" indent="0">
              <a:buNone/>
            </a:pPr>
            <a:r>
              <a:rPr lang="en-US" dirty="0" err="1"/>
              <a:t>TestEvenNumber</a:t>
            </a:r>
            <a:r>
              <a:rPr lang="en-US" dirty="0"/>
              <a:t>()</a:t>
            </a:r>
            <a:r>
              <a:rPr lang="ru-RU" dirty="0"/>
              <a:t> – проверяет будет ли чётное число чётным по результату функции.</a:t>
            </a:r>
          </a:p>
          <a:p>
            <a:pPr marL="0" indent="0">
              <a:buNone/>
            </a:pPr>
            <a:r>
              <a:rPr lang="en-US" dirty="0" err="1"/>
              <a:t>TestOddNumber</a:t>
            </a:r>
            <a:r>
              <a:rPr lang="en-US" dirty="0"/>
              <a:t>()</a:t>
            </a:r>
            <a:r>
              <a:rPr lang="ru-RU" dirty="0"/>
              <a:t> – проверяет будет ли нечётное число нечётным.</a:t>
            </a:r>
          </a:p>
          <a:p>
            <a:pPr marL="0" indent="0">
              <a:buNone/>
            </a:pPr>
            <a:r>
              <a:rPr lang="en-US" dirty="0" err="1"/>
              <a:t>TestZero</a:t>
            </a:r>
            <a:r>
              <a:rPr lang="en-US" dirty="0"/>
              <a:t>()</a:t>
            </a:r>
            <a:r>
              <a:rPr lang="ru-RU" dirty="0"/>
              <a:t> – проверяет будет ли 0 чётным числом.</a:t>
            </a:r>
          </a:p>
          <a:p>
            <a:pPr marL="0" indent="0">
              <a:buNone/>
            </a:pPr>
            <a:r>
              <a:rPr lang="en-US" dirty="0" err="1"/>
              <a:t>TestNegativeEven</a:t>
            </a:r>
            <a:r>
              <a:rPr lang="en-US" dirty="0"/>
              <a:t>()</a:t>
            </a:r>
            <a:r>
              <a:rPr lang="ru-RU" dirty="0"/>
              <a:t> – проверка на отрицательные чётные </a:t>
            </a:r>
          </a:p>
          <a:p>
            <a:pPr marL="0" indent="0">
              <a:buNone/>
            </a:pPr>
            <a:r>
              <a:rPr lang="ru-RU" dirty="0"/>
              <a:t>числа.</a:t>
            </a:r>
          </a:p>
          <a:p>
            <a:pPr marL="0" indent="0">
              <a:buNone/>
            </a:pPr>
            <a:r>
              <a:rPr lang="en-US" dirty="0" err="1"/>
              <a:t>TestNegativeOdd</a:t>
            </a:r>
            <a:r>
              <a:rPr lang="en-US" dirty="0"/>
              <a:t>()</a:t>
            </a:r>
            <a:r>
              <a:rPr lang="ru-RU" dirty="0"/>
              <a:t> – проверка на отрицательные чётные </a:t>
            </a:r>
          </a:p>
          <a:p>
            <a:pPr marL="0" indent="0">
              <a:buNone/>
            </a:pPr>
            <a:r>
              <a:rPr lang="ru-RU" dirty="0"/>
              <a:t>числа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TestNoNumber</a:t>
            </a:r>
            <a:r>
              <a:rPr lang="ru-RU" dirty="0"/>
              <a:t>() – проверка если введено не число </a:t>
            </a:r>
          </a:p>
        </p:txBody>
      </p:sp>
    </p:spTree>
    <p:extLst>
      <p:ext uri="{BB962C8B-B14F-4D97-AF65-F5344CB8AC3E}">
        <p14:creationId xmlns:p14="http://schemas.microsoft.com/office/powerpoint/2010/main" val="2729769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E6C8-2B46-9B12-F1F8-7FF920A2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E05A7-474A-70DF-75B9-215EA94D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функции </a:t>
            </a:r>
            <a:r>
              <a:rPr lang="en-US" dirty="0"/>
              <a:t>function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58D9D0-C745-9B30-9CC6-1FEDCEA10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6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скриншоте видно что выполнились все тесты кроме последнего, так и должно быть. Так как в последнюю функцию мы намеренно добавили ошибку. Все остальные проверки выдали положительные результат. Следовательно всё работает как часы.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A27064-21D5-A47A-6EB1-9FE7A84F7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146" y="3562091"/>
            <a:ext cx="7811154" cy="308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95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AF770-64CD-4FF7-92A0-D9D4E501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9B40D5-63A2-4CE8-8288-D01C5C5C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718" y="2372354"/>
            <a:ext cx="6087081" cy="2952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Мы полностью проверили наш код на работоспособность. Таким образом реализовали способ белого ящика.</a:t>
            </a:r>
            <a:endParaRPr lang="en-US" dirty="0"/>
          </a:p>
        </p:txBody>
      </p:sp>
      <p:pic>
        <p:nvPicPr>
          <p:cNvPr id="5" name="Рисунок 4" descr="Презентация с линейчатой диаграммой">
            <a:extLst>
              <a:ext uri="{FF2B5EF4-FFF2-40B4-BE49-F238E27FC236}">
                <a16:creationId xmlns:a16="http://schemas.microsoft.com/office/drawing/2014/main" id="{E393F82E-A2E9-4F88-900C-40B87531C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0240" y="2165877"/>
            <a:ext cx="3159378" cy="315937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79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139</TotalTime>
  <Words>389</Words>
  <Application>Microsoft Office PowerPoint</Application>
  <PresentationFormat>Широкоэкранный</PresentationFormat>
  <Paragraphs>35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Тема Office</vt:lpstr>
      <vt:lpstr>Тестирование "Белым Ящиком"</vt:lpstr>
      <vt:lpstr>Про метод белого ящика</vt:lpstr>
      <vt:lpstr>Пример тестирование белым ящиком</vt:lpstr>
      <vt:lpstr>Что нам необходимо проверить?</vt:lpstr>
      <vt:lpstr>Проверка оператор convert</vt:lpstr>
      <vt:lpstr>Проверка оператор convert</vt:lpstr>
      <vt:lpstr>Решение</vt:lpstr>
      <vt:lpstr>Проверка функции function</vt:lpstr>
      <vt:lpstr>Проверка функции function</vt:lpstr>
      <vt:lpstr>Проверка функции function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серый, шаблон презентации с сайта presentation-creation.ru</dc:title>
  <dc:creator>User Obstinate</dc:creator>
  <cp:lastModifiedBy>ВЛАДИМИР САФАРГАЛЕЕВ</cp:lastModifiedBy>
  <cp:revision>7</cp:revision>
  <dcterms:created xsi:type="dcterms:W3CDTF">2024-11-04T08:17:15Z</dcterms:created>
  <dcterms:modified xsi:type="dcterms:W3CDTF">2025-12-01T02:44:21Z</dcterms:modified>
</cp:coreProperties>
</file>